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74C4E61B-6702-4465-9E94-1AA0F1D7A8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06C945-B167-4D8A-9035-ACCFC7CD48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64ECA92-78E4-467D-B751-03AD99144E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092C404-D324-4D0A-98A3-C4F42A92CAD7}"/>
              </a:ext>
            </a:extLst>
          </p:cNvPr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301544-C4C3-4F8C-B5FC-DC7A14CEF1CC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4FF"/>
                </a:solidFill>
                <a:latin typeface="Aptos"/>
                <a:ea typeface="Aptos"/>
                <a:cs typeface="Aptos"/>
              </a:rPr>
              <a:t>PROYECTO FINAL · SISTEMAS OPERATIVOS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08DDE6D-6E20-4FC5-B377-FA51BE3A6803}"/>
              </a:ext>
            </a:extLst>
          </p:cNvPr>
          <p:cNvSpPr>
            <a:spLocks noGrp="1"/>
          </p:cNvSpPr>
          <p:nvPr/>
        </p:nvSpPr>
        <p:spPr>
          <a:xfrm>
            <a:off x="514350" y="876300"/>
            <a:ext cx="5334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FORGE CORE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5160E82-AFAC-4F26-8DB5-6F1C04D2D2A8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561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E-commerce ficticio de hardware desplegado en AWS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F1CE1A9-70D7-4622-BA3A-E55AA4CF749B}"/>
              </a:ext>
            </a:extLst>
          </p:cNvPr>
          <p:cNvSpPr>
            <a:spLocks noGrp="1"/>
          </p:cNvSpPr>
          <p:nvPr/>
        </p:nvSpPr>
        <p:spPr>
          <a:xfrm>
            <a:off x="552450" y="2286000"/>
            <a:ext cx="5715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1F4FF"/>
                </a:solidFill>
                <a:latin typeface="Aptos"/>
                <a:ea typeface="Aptos"/>
                <a:cs typeface="Aptos"/>
              </a:rPr>
              <a:t>React + TypeScript + Tailwind · Node.js + Express · MariaDB · Nginx · systemd · EC2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36062FB-3C2C-40EA-AF34-148071AD6FE0}"/>
              </a:ext>
            </a:extLst>
          </p:cNvPr>
          <p:cNvSpPr>
            <a:spLocks noGrp="1"/>
          </p:cNvSpPr>
          <p:nvPr/>
        </p:nvSpPr>
        <p:spPr>
          <a:xfrm>
            <a:off x="6534150" y="914400"/>
            <a:ext cx="5029200" cy="3028950"/>
          </a:xfrm>
          <a:prstGeom prst="rect">
            <a:avLst/>
          </a:prstGeom>
          <a:solidFill>
            <a:srgbClr val="05070B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rcRect t="19362" b="19362"/>
          <a:stretch>
            <a:fillRect/>
          </a:stretch>
        </p:blipFill>
        <p:spPr>
          <a:xfrm>
            <a:off x="6572250" y="952500"/>
            <a:ext cx="4953000" cy="295275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34AD9B12-01E9-4474-B9F8-CEA5271F1B3A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161925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907A9DF-148E-4229-95AE-DE3339901695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5DE7F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DE7F3"/>
                </a:solidFill>
                <a:latin typeface="Aptos"/>
                <a:ea typeface="Aptos"/>
                <a:cs typeface="Aptos"/>
              </a:rPr>
              <a:t>2 EC2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57A265B-5C31-4388-A6F1-51DE5AB1A44A}"/>
              </a:ext>
            </a:extLst>
          </p:cNvPr>
          <p:cNvSpPr>
            <a:spLocks noGrp="1"/>
          </p:cNvSpPr>
          <p:nvPr/>
        </p:nvSpPr>
        <p:spPr>
          <a:xfrm>
            <a:off x="723900" y="4238625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App Server + Database Server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1CC3B02-FBBF-4CEA-A9C5-1C875878764A}"/>
              </a:ext>
            </a:extLst>
          </p:cNvPr>
          <p:cNvSpPr>
            <a:spLocks noGrp="1"/>
          </p:cNvSpPr>
          <p:nvPr/>
        </p:nvSpPr>
        <p:spPr>
          <a:xfrm>
            <a:off x="2381250" y="3714750"/>
            <a:ext cx="161925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4AC062E-E85C-414C-82D3-000C28FDD5D9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57+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7656CE8-CDDC-43F5-9DA6-390263AF1A49}"/>
              </a:ext>
            </a:extLst>
          </p:cNvPr>
          <p:cNvSpPr>
            <a:spLocks noGrp="1"/>
          </p:cNvSpPr>
          <p:nvPr/>
        </p:nvSpPr>
        <p:spPr>
          <a:xfrm>
            <a:off x="2552700" y="4238625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productos en catalogo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6A14739-FD55-4A10-876B-A8F51C782B43}"/>
              </a:ext>
            </a:extLst>
          </p:cNvPr>
          <p:cNvSpPr>
            <a:spLocks noGrp="1"/>
          </p:cNvSpPr>
          <p:nvPr/>
        </p:nvSpPr>
        <p:spPr>
          <a:xfrm>
            <a:off x="4210050" y="3714750"/>
            <a:ext cx="200025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7483B71-B72F-4E26-8DBF-405C0DFD6791}"/>
              </a:ext>
            </a:extLst>
          </p:cNvPr>
          <p:cNvSpPr>
            <a:spLocks noGrp="1"/>
          </p:cNvSpPr>
          <p:nvPr/>
        </p:nvSpPr>
        <p:spPr>
          <a:xfrm>
            <a:off x="4381500" y="386715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5C4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C451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F49495E-D4EE-46EA-928B-D819F18E8D03}"/>
              </a:ext>
            </a:extLst>
          </p:cNvPr>
          <p:cNvSpPr>
            <a:spLocks noGrp="1"/>
          </p:cNvSpPr>
          <p:nvPr/>
        </p:nvSpPr>
        <p:spPr>
          <a:xfrm>
            <a:off x="4381500" y="4238625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catalogo, pedidos, comunidad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D7910CD-B1D4-4B52-A084-46E13928A86F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A9A"/>
                </a:solidFill>
                <a:latin typeface="Aptos"/>
                <a:ea typeface="Aptos"/>
                <a:cs typeface="Aptos"/>
              </a:rPr>
              <a:t>Sistemas Operativos · AWS · React · Node · MariaDB · 01/10</a:t>
            </a:r>
          </a:p>
        </p:txBody>
      </p:sp>
    </p:spTree>
    <p:extLst>
      <p:ext uri="{BB962C8B-B14F-4D97-AF65-F5344CB8AC3E}">
        <p14:creationId xmlns:p14="http://schemas.microsoft.com/office/powerpoint/2010/main" val="9189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3B079CEA-4FD0-4109-A1D6-63957F6976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671F43-6B6D-4197-BDCB-09C2496405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242304D-08B7-4C41-9971-C7267DD547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E34DCAC-3ECA-4F9D-883D-0942CE15045B}"/>
              </a:ext>
            </a:extLst>
          </p:cNvPr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C1ED77B-6E32-457D-BCFA-1558A049B8D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4FF"/>
                </a:solidFill>
                <a:latin typeface="Aptos"/>
                <a:ea typeface="Aptos"/>
                <a:cs typeface="Aptos"/>
              </a:rPr>
              <a:t>FORGE CORE | PC Hardware Hub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67F32AE-3E3F-42B5-BF05-CA52D367BAF0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El reto no era solo diseñar una tienda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B5A8159-04CD-4844-8119-622839516846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El proyecto demuestra infraestructura, persistencia, seguridad y conceptos de Sistemas Operativos.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2282B5-8535-44CB-A4E5-3D94AD1F004C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95250" cy="9525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8BBA7A3-8AF2-4C59-B25D-CC3D542BE6CE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561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Evitar una maqueta estatica: los productos, pedidos y comentarios salen de MariaDB.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25A1D16-89C6-4568-A240-46AB70AF7A14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95250" cy="9525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4BFEB3-BB48-473F-A480-606ACA018838}"/>
              </a:ext>
            </a:extLst>
          </p:cNvPr>
          <p:cNvSpPr>
            <a:spLocks noGrp="1"/>
          </p:cNvSpPr>
          <p:nvPr/>
        </p:nvSpPr>
        <p:spPr>
          <a:xfrm>
            <a:off x="895350" y="2828925"/>
            <a:ext cx="561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Separar responsabilidades: una EC2 publica para app y una EC2 privada para base de datos.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A29FCF5-5960-4C3A-8D8F-393A9A370C57}"/>
              </a:ext>
            </a:extLst>
          </p:cNvPr>
          <p:cNvSpPr>
            <a:spLocks noGrp="1"/>
          </p:cNvSpPr>
          <p:nvPr/>
        </p:nvSpPr>
        <p:spPr>
          <a:xfrm>
            <a:off x="666750" y="3390900"/>
            <a:ext cx="95250" cy="9525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DE151A4-F849-40D2-A9D3-F6BA107EABA1}"/>
              </a:ext>
            </a:extLst>
          </p:cNvPr>
          <p:cNvSpPr>
            <a:spLocks noGrp="1"/>
          </p:cNvSpPr>
          <p:nvPr/>
        </p:nvSpPr>
        <p:spPr>
          <a:xfrm>
            <a:off x="895350" y="3324225"/>
            <a:ext cx="561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Controlar inventario con transacciones para evitar descuentos inconsistentes.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B0066F7-A82A-437D-83B4-1D4E7F884709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95250" cy="9525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CBD86C2-DBD2-4941-908C-E73159638491}"/>
              </a:ext>
            </a:extLst>
          </p:cNvPr>
          <p:cNvSpPr>
            <a:spLocks noGrp="1"/>
          </p:cNvSpPr>
          <p:nvPr/>
        </p:nvSpPr>
        <p:spPr>
          <a:xfrm>
            <a:off x="895350" y="3819525"/>
            <a:ext cx="561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Mostrar metricas reales del servidor usando procesos, worker thread y Linux.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2D89107-C8C7-4A48-AF10-0B87A83867A4}"/>
              </a:ext>
            </a:extLst>
          </p:cNvPr>
          <p:cNvSpPr>
            <a:spLocks noGrp="1"/>
          </p:cNvSpPr>
          <p:nvPr/>
        </p:nvSpPr>
        <p:spPr>
          <a:xfrm>
            <a:off x="6953250" y="2190750"/>
            <a:ext cx="342900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9626A54-F909-48A5-BAF6-C600B27A2138}"/>
              </a:ext>
            </a:extLst>
          </p:cNvPr>
          <p:cNvSpPr>
            <a:spLocks noGrp="1"/>
          </p:cNvSpPr>
          <p:nvPr/>
        </p:nvSpPr>
        <p:spPr>
          <a:xfrm>
            <a:off x="7124700" y="234315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5DE7F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DE7F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4CFD8D8-52B4-4572-9B59-1BE1CF0C0C1F}"/>
              </a:ext>
            </a:extLst>
          </p:cNvPr>
          <p:cNvSpPr>
            <a:spLocks noGrp="1"/>
          </p:cNvSpPr>
          <p:nvPr/>
        </p:nvSpPr>
        <p:spPr>
          <a:xfrm>
            <a:off x="7124700" y="2714625"/>
            <a:ext cx="3086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SPA React con catalogo, carrito, comunidad y admin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8440372-64CE-43A7-9B46-576DDCD0DDF4}"/>
              </a:ext>
            </a:extLst>
          </p:cNvPr>
          <p:cNvSpPr>
            <a:spLocks noGrp="1"/>
          </p:cNvSpPr>
          <p:nvPr/>
        </p:nvSpPr>
        <p:spPr>
          <a:xfrm>
            <a:off x="6953250" y="3333750"/>
            <a:ext cx="342900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2938366-FF08-4D2F-8B22-9D7F613B85F3}"/>
              </a:ext>
            </a:extLst>
          </p:cNvPr>
          <p:cNvSpPr>
            <a:spLocks noGrp="1"/>
          </p:cNvSpPr>
          <p:nvPr/>
        </p:nvSpPr>
        <p:spPr>
          <a:xfrm>
            <a:off x="7124700" y="348615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EF71148-4F2E-4064-9F2E-49B9CB85429A}"/>
              </a:ext>
            </a:extLst>
          </p:cNvPr>
          <p:cNvSpPr>
            <a:spLocks noGrp="1"/>
          </p:cNvSpPr>
          <p:nvPr/>
        </p:nvSpPr>
        <p:spPr>
          <a:xfrm>
            <a:off x="7124700" y="3857625"/>
            <a:ext cx="3086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API REST con Express y mysql2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046B7BA-B824-41B9-BF67-194DD8DBBE46}"/>
              </a:ext>
            </a:extLst>
          </p:cNvPr>
          <p:cNvSpPr>
            <a:spLocks noGrp="1"/>
          </p:cNvSpPr>
          <p:nvPr/>
        </p:nvSpPr>
        <p:spPr>
          <a:xfrm>
            <a:off x="6953250" y="4476750"/>
            <a:ext cx="342900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C2B0C28-516A-42E1-B17B-9FCAA76BCDC3}"/>
              </a:ext>
            </a:extLst>
          </p:cNvPr>
          <p:cNvSpPr>
            <a:spLocks noGrp="1"/>
          </p:cNvSpPr>
          <p:nvPr/>
        </p:nvSpPr>
        <p:spPr>
          <a:xfrm>
            <a:off x="7124700" y="462915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5C4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C451"/>
                </a:solidFill>
                <a:latin typeface="Aptos"/>
                <a:ea typeface="Aptos"/>
                <a:cs typeface="Aptos"/>
              </a:rPr>
              <a:t>BD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6D88FA4-3414-4996-8E2E-2DB14C892FF8}"/>
              </a:ext>
            </a:extLst>
          </p:cNvPr>
          <p:cNvSpPr>
            <a:spLocks noGrp="1"/>
          </p:cNvSpPr>
          <p:nvPr/>
        </p:nvSpPr>
        <p:spPr>
          <a:xfrm>
            <a:off x="7124700" y="5000625"/>
            <a:ext cx="3086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MariaDB con procedures y auditoria de stock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02A08C3-B2E9-4BC3-9541-7B266B5264D2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A9A"/>
                </a:solidFill>
                <a:latin typeface="Aptos"/>
                <a:ea typeface="Aptos"/>
                <a:cs typeface="Aptos"/>
              </a:rPr>
              <a:t>Sistemas Operativos · AWS · React · Node · MariaDB · 02/10</a:t>
            </a:r>
          </a:p>
        </p:txBody>
      </p:sp>
    </p:spTree>
    <p:extLst>
      <p:ext uri="{BB962C8B-B14F-4D97-AF65-F5344CB8AC3E}">
        <p14:creationId xmlns:p14="http://schemas.microsoft.com/office/powerpoint/2010/main" val="62563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D570D685-1578-4167-ACAD-710DA1B2E5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F640B08-D1B9-4FDA-A45A-0417DD3270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29151C-74DD-490D-BAA0-1FE9765E00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E69D388-6606-4928-83C1-D73DFFF7844F}"/>
              </a:ext>
            </a:extLst>
          </p:cNvPr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ED220D0-7464-4310-8392-2BB92341F7FA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4FF"/>
                </a:solidFill>
                <a:latin typeface="Aptos"/>
                <a:ea typeface="Aptos"/>
                <a:cs typeface="Aptos"/>
              </a:rPr>
              <a:t>ARQUITECTURA CLOUD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674A70C-0162-419D-B6D8-B880719FD378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Arquitectura AWS de dos servidores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023880C-CDB9-4D80-98D9-0248AB83B86B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Usuario -&gt; EC2 App Server -&gt; EC2 Database Server por IP privada.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FC61EA-0488-4AE8-B9C3-96F13AEDEC4A}"/>
              </a:ext>
            </a:extLst>
          </p:cNvPr>
          <p:cNvSpPr>
            <a:spLocks noGrp="1"/>
          </p:cNvSpPr>
          <p:nvPr/>
        </p:nvSpPr>
        <p:spPr>
          <a:xfrm>
            <a:off x="819150" y="2009775"/>
            <a:ext cx="7981950" cy="3743325"/>
          </a:xfrm>
          <a:prstGeom prst="rect">
            <a:avLst/>
          </a:prstGeom>
          <a:solidFill>
            <a:srgbClr val="05070B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66875" y="2047875"/>
            <a:ext cx="6286500" cy="366712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F9D51F4-2401-4EFC-ACF7-3B73ED24CCB8}"/>
              </a:ext>
            </a:extLst>
          </p:cNvPr>
          <p:cNvSpPr>
            <a:spLocks noGrp="1"/>
          </p:cNvSpPr>
          <p:nvPr/>
        </p:nvSpPr>
        <p:spPr>
          <a:xfrm>
            <a:off x="9239250" y="2190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DE7F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DE7F3"/>
                </a:solidFill>
                <a:latin typeface="Aptos"/>
                <a:ea typeface="Aptos"/>
                <a:cs typeface="Aptos"/>
              </a:rPr>
              <a:t>Seguridad clave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E20949D-9B06-4E59-AC7E-A4F0B594F3F0}"/>
              </a:ext>
            </a:extLst>
          </p:cNvPr>
          <p:cNvSpPr>
            <a:spLocks noGrp="1"/>
          </p:cNvSpPr>
          <p:nvPr/>
        </p:nvSpPr>
        <p:spPr>
          <a:xfrm>
            <a:off x="9239250" y="2647950"/>
            <a:ext cx="2238375" cy="2000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• Puerto 80 publico solo en App Server</a:t>
            </a:r>
          </a:p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• Puerto 3306 permitido solo desde forge-app-sg</a:t>
            </a:r>
          </a:p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• Backend usa DB_HOST con IP privada</a:t>
            </a:r>
          </a:p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• Nginx sirve React y proxya /api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554595F-CA4D-426E-B11C-EFBDE797887A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A9A"/>
                </a:solidFill>
                <a:latin typeface="Aptos"/>
                <a:ea typeface="Aptos"/>
                <a:cs typeface="Aptos"/>
              </a:rPr>
              <a:t>Sistemas Operativos · AWS · React · Node · MariaDB · 03/10</a:t>
            </a:r>
          </a:p>
        </p:txBody>
      </p:sp>
    </p:spTree>
    <p:extLst>
      <p:ext uri="{BB962C8B-B14F-4D97-AF65-F5344CB8AC3E}">
        <p14:creationId xmlns:p14="http://schemas.microsoft.com/office/powerpoint/2010/main" val="118445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8C5D5183-6900-4321-988B-6AC90DE06F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9ACFCC4-C859-45F9-9556-C5D0CFD2FA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707F1A8-79E0-44B0-864B-0A6DFF07A5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09451D4-7C63-4D9E-9DF3-927CF0980A04}"/>
              </a:ext>
            </a:extLst>
          </p:cNvPr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9F0055-A50B-4A27-B0AE-A5007D9CBD3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4FF"/>
                </a:solidFill>
                <a:latin typeface="Aptos"/>
                <a:ea typeface="Aptos"/>
                <a:cs typeface="Aptos"/>
              </a:rPr>
              <a:t>TECNOLOGIAS IMPLEMENTADAS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F974515-9036-4364-BF26-42C197E6FA92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Stack por capas del proyecto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ED08B9-5183-42B8-9490-54BB19AA391B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Cada tecnologia cumple un rol concreto dentro de la solucion.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18943F5-CC0A-4940-B186-14A8F2EF04D6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685800"/>
          </a:xfrm>
          <a:prstGeom prst="rect">
            <a:avLst/>
          </a:prstGeom>
          <a:solidFill>
            <a:srgbClr val="0D131D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46C91A9-78BB-4AC0-8D53-2ED094A92861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E7F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E7F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4716CC6-F525-4815-BB77-D6FADFFE13F5}"/>
              </a:ext>
            </a:extLst>
          </p:cNvPr>
          <p:cNvSpPr>
            <a:spLocks noGrp="1"/>
          </p:cNvSpPr>
          <p:nvPr/>
        </p:nvSpPr>
        <p:spPr>
          <a:xfrm>
            <a:off x="2857500" y="22288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React · TypeScript · Tailwind · Vite · lucide-react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8892CEE-085F-49F0-847F-514CF420953C}"/>
              </a:ext>
            </a:extLst>
          </p:cNvPr>
          <p:cNvSpPr>
            <a:spLocks noGrp="1"/>
          </p:cNvSpPr>
          <p:nvPr/>
        </p:nvSpPr>
        <p:spPr>
          <a:xfrm>
            <a:off x="6572250" y="2228850"/>
            <a:ext cx="447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Interfaz SPA, catalogo, carrito, comunidad, admin y build estatico.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77763EF-A980-4084-B1AC-2E8AF74F2669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0820400" cy="685800"/>
          </a:xfrm>
          <a:prstGeom prst="rect">
            <a:avLst/>
          </a:prstGeom>
          <a:solidFill>
            <a:srgbClr val="101722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957ECFA-91D5-4D60-9D4D-AEE76FEDBEF8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4F86A6C-114C-4BDB-A866-F0A0616BC489}"/>
              </a:ext>
            </a:extLst>
          </p:cNvPr>
          <p:cNvSpPr>
            <a:spLocks noGrp="1"/>
          </p:cNvSpPr>
          <p:nvPr/>
        </p:nvSpPr>
        <p:spPr>
          <a:xfrm>
            <a:off x="2857500" y="31242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Node.js · Express · mysql2 · dotenv · cors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301BBA-0C54-40A4-8481-8D7249BC6BE0}"/>
              </a:ext>
            </a:extLst>
          </p:cNvPr>
          <p:cNvSpPr>
            <a:spLocks noGrp="1"/>
          </p:cNvSpPr>
          <p:nvPr/>
        </p:nvSpPr>
        <p:spPr>
          <a:xfrm>
            <a:off x="6572250" y="3124200"/>
            <a:ext cx="447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API REST, validacion, conexion MariaDB, pedidos y endpoints admin.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8E1D280-DF23-4963-977C-EE154A861131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0820400" cy="685800"/>
          </a:xfrm>
          <a:prstGeom prst="rect">
            <a:avLst/>
          </a:prstGeom>
          <a:solidFill>
            <a:srgbClr val="0D131D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201C493-4BA4-46B8-A234-D94F3B7105F7}"/>
              </a:ext>
            </a:extLst>
          </p:cNvPr>
          <p:cNvSpPr>
            <a:spLocks noGrp="1"/>
          </p:cNvSpPr>
          <p:nvPr/>
        </p:nvSpPr>
        <p:spPr>
          <a:xfrm>
            <a:off x="952500" y="40386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C4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C451"/>
                </a:solidFill>
                <a:latin typeface="Aptos"/>
                <a:ea typeface="Aptos"/>
                <a:cs typeface="Aptos"/>
              </a:rPr>
              <a:t>Base de datos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5B62AF4-CBEE-4DF9-878D-124F38FF2407}"/>
              </a:ext>
            </a:extLst>
          </p:cNvPr>
          <p:cNvSpPr>
            <a:spLocks noGrp="1"/>
          </p:cNvSpPr>
          <p:nvPr/>
        </p:nvSpPr>
        <p:spPr>
          <a:xfrm>
            <a:off x="2857500" y="40195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MariaDB · SQL · Stored Procedures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25E2BC1-A262-40F0-BB1A-65F465727C86}"/>
              </a:ext>
            </a:extLst>
          </p:cNvPr>
          <p:cNvSpPr>
            <a:spLocks noGrp="1"/>
          </p:cNvSpPr>
          <p:nvPr/>
        </p:nvSpPr>
        <p:spPr>
          <a:xfrm>
            <a:off x="6572250" y="4019550"/>
            <a:ext cx="447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Productos, pedidos, inventario, comentarios, metricas y transacciones.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5A71B72-EBC0-4DF3-B092-61F5D84D1A5D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10820400" cy="685800"/>
          </a:xfrm>
          <a:prstGeom prst="rect">
            <a:avLst/>
          </a:prstGeom>
          <a:solidFill>
            <a:srgbClr val="101722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13A6E0F-38D6-481A-B5B7-10AA49BBC026}"/>
              </a:ext>
            </a:extLst>
          </p:cNvPr>
          <p:cNvSpPr>
            <a:spLocks noGrp="1"/>
          </p:cNvSpPr>
          <p:nvPr/>
        </p:nvSpPr>
        <p:spPr>
          <a:xfrm>
            <a:off x="952500" y="49339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Despliegue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5F13E53-48E8-4061-AE8E-F2F9369FA377}"/>
              </a:ext>
            </a:extLst>
          </p:cNvPr>
          <p:cNvSpPr>
            <a:spLocks noGrp="1"/>
          </p:cNvSpPr>
          <p:nvPr/>
        </p:nvSpPr>
        <p:spPr>
          <a:xfrm>
            <a:off x="2857500" y="49149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AWS EC2 · Ubuntu · Nginx · systemd · Security Groups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2DD0756-0971-4F4E-AD84-5ABB3F2E9911}"/>
              </a:ext>
            </a:extLst>
          </p:cNvPr>
          <p:cNvSpPr>
            <a:spLocks noGrp="1"/>
          </p:cNvSpPr>
          <p:nvPr/>
        </p:nvSpPr>
        <p:spPr>
          <a:xfrm>
            <a:off x="6572250" y="4914900"/>
            <a:ext cx="447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Publicacion web, servicio persistente, proxy /api y seguridad de puertos.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8A71F83-2AE3-484D-AAE0-0E24274C3289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A9A"/>
                </a:solidFill>
                <a:latin typeface="Aptos"/>
                <a:ea typeface="Aptos"/>
                <a:cs typeface="Aptos"/>
              </a:rPr>
              <a:t>Sistemas Operativos · AWS · React · Node · MariaDB · 04/10</a:t>
            </a:r>
          </a:p>
        </p:txBody>
      </p:sp>
    </p:spTree>
    <p:extLst>
      <p:ext uri="{BB962C8B-B14F-4D97-AF65-F5344CB8AC3E}">
        <p14:creationId xmlns:p14="http://schemas.microsoft.com/office/powerpoint/2010/main" val="86061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5E2E008B-280A-4581-987F-97CFF0EF0E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97F0328-560C-417B-A009-C7DCE6B58D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BE1ACEE-729F-4851-961A-FF8677A44F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B0DF882-B39A-4FA9-9D37-4674EF9AA56C}"/>
              </a:ext>
            </a:extLst>
          </p:cNvPr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D554D87-5589-4C7B-B576-1CD3A9C91A00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4FF"/>
                </a:solidFill>
                <a:latin typeface="Aptos"/>
                <a:ea typeface="Aptos"/>
                <a:cs typeface="Aptos"/>
              </a:rPr>
              <a:t>EXPERIENCIA VISUAL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9CBDFAF-E3E1-46BC-8790-FEFFAE855C58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E-commerce real: hero, catalogo y producto destacado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8B52649-5641-4CBD-B289-64D3D2076E6F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La interfaz usa capturas reales de la aplicacion construida.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9355588-FC0A-48B8-971F-664BD8A0DB2E}"/>
              </a:ext>
            </a:extLst>
          </p:cNvPr>
          <p:cNvSpPr>
            <a:spLocks noGrp="1"/>
          </p:cNvSpPr>
          <p:nvPr/>
        </p:nvSpPr>
        <p:spPr>
          <a:xfrm>
            <a:off x="552450" y="2105025"/>
            <a:ext cx="6743700" cy="3600450"/>
          </a:xfrm>
          <a:prstGeom prst="rect">
            <a:avLst/>
          </a:prstGeom>
          <a:solidFill>
            <a:srgbClr val="05070B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rcRect t="22835" b="22835"/>
          <a:stretch>
            <a:fillRect/>
          </a:stretch>
        </p:blipFill>
        <p:spPr>
          <a:xfrm>
            <a:off x="590550" y="2143125"/>
            <a:ext cx="6667500" cy="352425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152981C5-7C0F-4441-8B34-74EFF29FBEB4}"/>
              </a:ext>
            </a:extLst>
          </p:cNvPr>
          <p:cNvSpPr>
            <a:spLocks noGrp="1"/>
          </p:cNvSpPr>
          <p:nvPr/>
        </p:nvSpPr>
        <p:spPr>
          <a:xfrm>
            <a:off x="7677150" y="2105025"/>
            <a:ext cx="1838325" cy="1333500"/>
          </a:xfrm>
          <a:prstGeom prst="rect">
            <a:avLst/>
          </a:prstGeom>
          <a:solidFill>
            <a:srgbClr val="05070B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4"/>
          <a:srcRect l="3585" r="3585"/>
          <a:stretch>
            <a:fillRect/>
          </a:stretch>
        </p:blipFill>
        <p:spPr>
          <a:xfrm>
            <a:off x="7715250" y="2143125"/>
            <a:ext cx="1762125" cy="12573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024FDC39-C1C8-49A1-B010-24DFF9D05F58}"/>
              </a:ext>
            </a:extLst>
          </p:cNvPr>
          <p:cNvSpPr>
            <a:spLocks noGrp="1"/>
          </p:cNvSpPr>
          <p:nvPr/>
        </p:nvSpPr>
        <p:spPr>
          <a:xfrm>
            <a:off x="9629775" y="2105025"/>
            <a:ext cx="1838325" cy="1333500"/>
          </a:xfrm>
          <a:prstGeom prst="rect">
            <a:avLst/>
          </a:prstGeom>
          <a:solidFill>
            <a:srgbClr val="05070B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rcRect l="3585" r="3585"/>
          <a:stretch>
            <a:fillRect/>
          </a:stretch>
        </p:blipFill>
        <p:spPr>
          <a:xfrm>
            <a:off x="9667875" y="2143125"/>
            <a:ext cx="1762125" cy="125730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9A93C236-6A1A-4B20-A28C-816B5BFB5579}"/>
              </a:ext>
            </a:extLst>
          </p:cNvPr>
          <p:cNvSpPr>
            <a:spLocks noGrp="1"/>
          </p:cNvSpPr>
          <p:nvPr/>
        </p:nvSpPr>
        <p:spPr>
          <a:xfrm>
            <a:off x="7677150" y="3657600"/>
            <a:ext cx="1838325" cy="1333500"/>
          </a:xfrm>
          <a:prstGeom prst="rect">
            <a:avLst/>
          </a:prstGeom>
          <a:solidFill>
            <a:srgbClr val="05070B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rcRect l="3585" r="3585"/>
          <a:stretch>
            <a:fillRect/>
          </a:stretch>
        </p:blipFill>
        <p:spPr>
          <a:xfrm>
            <a:off x="7715250" y="3695700"/>
            <a:ext cx="1762125" cy="125730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678E04E8-4FDD-4AF4-9C6F-0BA4B7B1302E}"/>
              </a:ext>
            </a:extLst>
          </p:cNvPr>
          <p:cNvSpPr>
            <a:spLocks noGrp="1"/>
          </p:cNvSpPr>
          <p:nvPr/>
        </p:nvSpPr>
        <p:spPr>
          <a:xfrm>
            <a:off x="9629775" y="3657600"/>
            <a:ext cx="1838325" cy="1333500"/>
          </a:xfrm>
          <a:prstGeom prst="rect">
            <a:avLst/>
          </a:prstGeom>
          <a:solidFill>
            <a:srgbClr val="05070B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7"/>
          <a:srcRect l="3585" r="3585"/>
          <a:stretch>
            <a:fillRect/>
          </a:stretch>
        </p:blipFill>
        <p:spPr>
          <a:xfrm>
            <a:off x="9667875" y="3695700"/>
            <a:ext cx="1762125" cy="1257300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B29FD3D0-8405-4E40-8935-D72252A8070A}"/>
              </a:ext>
            </a:extLst>
          </p:cNvPr>
          <p:cNvSpPr>
            <a:spLocks noGrp="1"/>
          </p:cNvSpPr>
          <p:nvPr/>
        </p:nvSpPr>
        <p:spPr>
          <a:xfrm>
            <a:off x="7734300" y="5286375"/>
            <a:ext cx="361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DE7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E7F3"/>
                </a:solidFill>
                <a:latin typeface="Aptos"/>
                <a:ea typeface="Aptos"/>
                <a:cs typeface="Aptos"/>
              </a:rPr>
              <a:t>Imagenes de productos + UI premium gaming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6E79721-E914-4BC7-8118-0976675C7718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A9A"/>
                </a:solidFill>
                <a:latin typeface="Aptos"/>
                <a:ea typeface="Aptos"/>
                <a:cs typeface="Aptos"/>
              </a:rPr>
              <a:t>Sistemas Operativos · AWS · React · Node · MariaDB · 05/10</a:t>
            </a:r>
          </a:p>
        </p:txBody>
      </p:sp>
    </p:spTree>
    <p:extLst>
      <p:ext uri="{BB962C8B-B14F-4D97-AF65-F5344CB8AC3E}">
        <p14:creationId xmlns:p14="http://schemas.microsoft.com/office/powerpoint/2010/main" val="58556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9BC06E3-7813-48A7-8E0F-FE70676A80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ECD8552-36EE-40AE-947D-2419C73169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585F49-C0B8-4DC0-AEB9-E5BF61E372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4120BA6-6A1D-40E2-B5DF-40DE31FF9B56}"/>
              </a:ext>
            </a:extLst>
          </p:cNvPr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EE0415-20BE-42BF-9441-C6E49C155D4E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4FF"/>
                </a:solidFill>
                <a:latin typeface="Aptos"/>
                <a:ea typeface="Aptos"/>
                <a:cs typeface="Aptos"/>
              </a:rPr>
              <a:t>CHECKOUT E INVENTARIO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1911672-E767-4238-A43C-848BFB1D873D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El pago simulado descuenta stock con transaccion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EA79712-B92C-4682-B652-9C3692ABE1CF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La compra no es decorativa: el backend llama un stored procedure en MariaDB.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852EAC-F3AC-41F0-92AA-C6C07D488B3F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7553325" cy="3648075"/>
          </a:xfrm>
          <a:prstGeom prst="rect">
            <a:avLst/>
          </a:prstGeom>
          <a:solidFill>
            <a:srgbClr val="05070B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7775" y="2047875"/>
            <a:ext cx="6429375" cy="357187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585E8C9-39A3-4059-93A5-C890CAB4EC27}"/>
              </a:ext>
            </a:extLst>
          </p:cNvPr>
          <p:cNvSpPr>
            <a:spLocks noGrp="1"/>
          </p:cNvSpPr>
          <p:nvPr/>
        </p:nvSpPr>
        <p:spPr>
          <a:xfrm>
            <a:off x="8810625" y="22098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DE7F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DE7F3"/>
                </a:solidFill>
                <a:latin typeface="Aptos"/>
                <a:ea typeface="Aptos"/>
                <a:cs typeface="Aptos"/>
              </a:rPr>
              <a:t>Stored procedure clave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F2F7202-C39C-4C1F-9507-D7445D5EE73A}"/>
              </a:ext>
            </a:extLst>
          </p:cNvPr>
          <p:cNvSpPr>
            <a:spLocks noGrp="1"/>
          </p:cNvSpPr>
          <p:nvPr/>
        </p:nvSpPr>
        <p:spPr>
          <a:xfrm>
            <a:off x="8810625" y="2667000"/>
            <a:ext cx="26670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sp_create_simulated_order</a:t>
            </a:r>
          </a:p>
          <a:p>
            <a:endParaRPr sz="1275" b="0">
              <a:solidFill>
                <a:srgbClr val="F6F8F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1. Valida items</a:t>
            </a:r>
          </a:p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2. Bloquea filas con SELECT ... FOR UPDATE</a:t>
            </a:r>
          </a:p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3. Inserta order + order_items</a:t>
            </a:r>
          </a:p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4. Descuenta stock</a:t>
            </a:r>
          </a:p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5. Registra inventory_movements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2E26BDC-56D9-446E-8F51-F1F7985C1E6E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A9A"/>
                </a:solidFill>
                <a:latin typeface="Aptos"/>
                <a:ea typeface="Aptos"/>
                <a:cs typeface="Aptos"/>
              </a:rPr>
              <a:t>Sistemas Operativos · AWS · React · Node · MariaDB · 06/10</a:t>
            </a:r>
          </a:p>
        </p:txBody>
      </p:sp>
    </p:spTree>
    <p:extLst>
      <p:ext uri="{BB962C8B-B14F-4D97-AF65-F5344CB8AC3E}">
        <p14:creationId xmlns:p14="http://schemas.microsoft.com/office/powerpoint/2010/main" val="593114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AAB06044-BC07-4F3A-816D-F0645B6F1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7F3AC5-C45F-4822-BD08-2F724042A3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CBC8239-EAC9-4CD4-A519-7B45F25D07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F8D00FC-6B73-4DFF-92D3-7EB120A1D2FE}"/>
              </a:ext>
            </a:extLst>
          </p:cNvPr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4402EEA-F1C5-4580-B929-FD5BF3D2F66F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4FF"/>
                </a:solidFill>
                <a:latin typeface="Aptos"/>
                <a:ea typeface="Aptos"/>
                <a:cs typeface="Aptos"/>
              </a:rPr>
              <a:t>BASE DE DATOS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EBDDB87-8DB6-4F82-8286-7922C4E3233E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MariaDB guarda todo lo que hace viva a la tienda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A6E1767-D9D9-4D21-A9DF-EEE9ECEB7E9C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Catalogo, pedidos, movimientos, metricas y comentarios quedan persistidos.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03567D8-DC5B-44F7-80BE-2F1851DE748D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7315200" cy="3790950"/>
          </a:xfrm>
          <a:prstGeom prst="rect">
            <a:avLst/>
          </a:prstGeom>
          <a:solidFill>
            <a:srgbClr val="05070B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9054" y="1981200"/>
            <a:ext cx="5814391" cy="371475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12D3D92-F8B2-4950-B265-753C6118FC0D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381250" cy="361950"/>
          </a:xfrm>
          <a:prstGeom prst="rect">
            <a:avLst/>
          </a:prstGeom>
          <a:solidFill>
            <a:srgbClr val="0E1420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9F12514-B1E6-4E4A-A20E-0E15C5BEE4E7}"/>
              </a:ext>
            </a:extLst>
          </p:cNvPr>
          <p:cNvSpPr>
            <a:spLocks noGrp="1"/>
          </p:cNvSpPr>
          <p:nvPr/>
        </p:nvSpPr>
        <p:spPr>
          <a:xfrm>
            <a:off x="8763000" y="2181225"/>
            <a:ext cx="2047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5DE7F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E7F3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E6084E4-C98E-403B-B313-5C41734E1BE9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381250" cy="361950"/>
          </a:xfrm>
          <a:prstGeom prst="rect">
            <a:avLst/>
          </a:prstGeom>
          <a:solidFill>
            <a:srgbClr val="0E1420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3BE409-9D24-4F02-87F5-9602611CD2B8}"/>
              </a:ext>
            </a:extLst>
          </p:cNvPr>
          <p:cNvSpPr>
            <a:spLocks noGrp="1"/>
          </p:cNvSpPr>
          <p:nvPr/>
        </p:nvSpPr>
        <p:spPr>
          <a:xfrm>
            <a:off x="8763000" y="2771775"/>
            <a:ext cx="2047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orders / order_items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41E2CFD-1FD5-43F9-AB60-B5993FA3303D}"/>
              </a:ext>
            </a:extLst>
          </p:cNvPr>
          <p:cNvSpPr>
            <a:spLocks noGrp="1"/>
          </p:cNvSpPr>
          <p:nvPr/>
        </p:nvSpPr>
        <p:spPr>
          <a:xfrm>
            <a:off x="8572500" y="3276600"/>
            <a:ext cx="2381250" cy="361950"/>
          </a:xfrm>
          <a:prstGeom prst="rect">
            <a:avLst/>
          </a:prstGeom>
          <a:solidFill>
            <a:srgbClr val="0E1420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2CCC1E3-D1B7-4652-8156-556E246DCDE2}"/>
              </a:ext>
            </a:extLst>
          </p:cNvPr>
          <p:cNvSpPr>
            <a:spLocks noGrp="1"/>
          </p:cNvSpPr>
          <p:nvPr/>
        </p:nvSpPr>
        <p:spPr>
          <a:xfrm>
            <a:off x="8763000" y="3362325"/>
            <a:ext cx="2047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inventory_movements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9AEDF2A-B81B-42E9-ADF2-E8E67A6DE2E1}"/>
              </a:ext>
            </a:extLst>
          </p:cNvPr>
          <p:cNvSpPr>
            <a:spLocks noGrp="1"/>
          </p:cNvSpPr>
          <p:nvPr/>
        </p:nvSpPr>
        <p:spPr>
          <a:xfrm>
            <a:off x="8572500" y="3867150"/>
            <a:ext cx="2381250" cy="361950"/>
          </a:xfrm>
          <a:prstGeom prst="rect">
            <a:avLst/>
          </a:prstGeom>
          <a:solidFill>
            <a:srgbClr val="0E1420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54B60CD-E44B-46CC-BCF6-9C0DD877ACB0}"/>
              </a:ext>
            </a:extLst>
          </p:cNvPr>
          <p:cNvSpPr>
            <a:spLocks noGrp="1"/>
          </p:cNvSpPr>
          <p:nvPr/>
        </p:nvSpPr>
        <p:spPr>
          <a:xfrm>
            <a:off x="8763000" y="3952875"/>
            <a:ext cx="2047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system_metrics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B9A98CB-211C-4AB7-9BCB-E7A4238CF539}"/>
              </a:ext>
            </a:extLst>
          </p:cNvPr>
          <p:cNvSpPr>
            <a:spLocks noGrp="1"/>
          </p:cNvSpPr>
          <p:nvPr/>
        </p:nvSpPr>
        <p:spPr>
          <a:xfrm>
            <a:off x="8572500" y="4457700"/>
            <a:ext cx="2381250" cy="361950"/>
          </a:xfrm>
          <a:prstGeom prst="rect">
            <a:avLst/>
          </a:prstGeom>
          <a:solidFill>
            <a:srgbClr val="0E1420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AE18F91-E80E-4D26-B7A7-0338B2F50277}"/>
              </a:ext>
            </a:extLst>
          </p:cNvPr>
          <p:cNvSpPr>
            <a:spLocks noGrp="1"/>
          </p:cNvSpPr>
          <p:nvPr/>
        </p:nvSpPr>
        <p:spPr>
          <a:xfrm>
            <a:off x="8763000" y="4543425"/>
            <a:ext cx="2047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buyer_messages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1C920C9-C39D-4195-ABA6-574556290A27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A9A"/>
                </a:solidFill>
                <a:latin typeface="Aptos"/>
                <a:ea typeface="Aptos"/>
                <a:cs typeface="Aptos"/>
              </a:rPr>
              <a:t>Sistemas Operativos · AWS · React · Node · MariaDB · 07/10</a:t>
            </a:r>
          </a:p>
        </p:txBody>
      </p:sp>
    </p:spTree>
    <p:extLst>
      <p:ext uri="{BB962C8B-B14F-4D97-AF65-F5344CB8AC3E}">
        <p14:creationId xmlns:p14="http://schemas.microsoft.com/office/powerpoint/2010/main" val="652337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0495C5E8-70A9-44E0-A389-B1C2D5963B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50D8A79-9B79-4F27-A311-1071FB77E1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6070DAE-0ED3-4A29-AD50-21FDA83011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8EA8CB-21B1-4758-8FBF-ACC355B67A1F}"/>
              </a:ext>
            </a:extLst>
          </p:cNvPr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613018A-2796-4CD0-933C-C8272442C97B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4FF"/>
                </a:solidFill>
                <a:latin typeface="Aptos"/>
                <a:ea typeface="Aptos"/>
                <a:cs typeface="Aptos"/>
              </a:rPr>
              <a:t>SISTEMAS OPERATIVOS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A851FA-AE1E-47D4-BFD5-FB9E847BF6FB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Conceptos de SO aplicados en una demo funcional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CA826E7-051F-413A-B411-9FCE5FDE5444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El dashboard conecta la app con recursos reales del servidor Linux.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56274E2-433C-4C0B-97EA-971940B1F83E}"/>
              </a:ext>
            </a:extLst>
          </p:cNvPr>
          <p:cNvSpPr>
            <a:spLocks noGrp="1"/>
          </p:cNvSpPr>
          <p:nvPr/>
        </p:nvSpPr>
        <p:spPr>
          <a:xfrm>
            <a:off x="647700" y="2152650"/>
            <a:ext cx="5695950" cy="2933700"/>
          </a:xfrm>
          <a:prstGeom prst="rect">
            <a:avLst/>
          </a:prstGeom>
          <a:solidFill>
            <a:srgbClr val="05070B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214563"/>
            <a:ext cx="5619750" cy="280987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A7048318-C3DB-42D5-8771-2DD5B0902DA0}"/>
              </a:ext>
            </a:extLst>
          </p:cNvPr>
          <p:cNvSpPr>
            <a:spLocks noGrp="1"/>
          </p:cNvSpPr>
          <p:nvPr/>
        </p:nvSpPr>
        <p:spPr>
          <a:xfrm>
            <a:off x="6858000" y="2095500"/>
            <a:ext cx="333375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FCD69EB-0D69-46E5-BBC7-6016AD3BF8B2}"/>
              </a:ext>
            </a:extLst>
          </p:cNvPr>
          <p:cNvSpPr>
            <a:spLocks noGrp="1"/>
          </p:cNvSpPr>
          <p:nvPr/>
        </p:nvSpPr>
        <p:spPr>
          <a:xfrm>
            <a:off x="7029450" y="22479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5DE7F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DE7F3"/>
                </a:solidFill>
                <a:latin typeface="Aptos"/>
                <a:ea typeface="Aptos"/>
                <a:cs typeface="Aptos"/>
              </a:rPr>
              <a:t>worker_threads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BD85DA8-CCFA-4ED3-B688-F526E23F4417}"/>
              </a:ext>
            </a:extLst>
          </p:cNvPr>
          <p:cNvSpPr>
            <a:spLocks noGrp="1"/>
          </p:cNvSpPr>
          <p:nvPr/>
        </p:nvSpPr>
        <p:spPr>
          <a:xfrm>
            <a:off x="7029450" y="2619375"/>
            <a:ext cx="2990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concurrencia para metricas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266BCEA-8C2A-418E-9616-A71E14E24312}"/>
              </a:ext>
            </a:extLst>
          </p:cNvPr>
          <p:cNvSpPr>
            <a:spLocks noGrp="1"/>
          </p:cNvSpPr>
          <p:nvPr/>
        </p:nvSpPr>
        <p:spPr>
          <a:xfrm>
            <a:off x="6858000" y="3238500"/>
            <a:ext cx="333375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D2F205E-009C-44BB-9BD1-FBE67FF48900}"/>
              </a:ext>
            </a:extLst>
          </p:cNvPr>
          <p:cNvSpPr>
            <a:spLocks noGrp="1"/>
          </p:cNvSpPr>
          <p:nvPr/>
        </p:nvSpPr>
        <p:spPr>
          <a:xfrm>
            <a:off x="7029450" y="33909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/proc + os + df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F01EFED-BE87-4FDB-A06E-3D3532C231BD}"/>
              </a:ext>
            </a:extLst>
          </p:cNvPr>
          <p:cNvSpPr>
            <a:spLocks noGrp="1"/>
          </p:cNvSpPr>
          <p:nvPr/>
        </p:nvSpPr>
        <p:spPr>
          <a:xfrm>
            <a:off x="7029450" y="3762375"/>
            <a:ext cx="2990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lectura del sistema Linux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5B5EF47-62FD-4CE4-B5DA-A4C746ACF02A}"/>
              </a:ext>
            </a:extLst>
          </p:cNvPr>
          <p:cNvSpPr>
            <a:spLocks noGrp="1"/>
          </p:cNvSpPr>
          <p:nvPr/>
        </p:nvSpPr>
        <p:spPr>
          <a:xfrm>
            <a:off x="6858000" y="4381500"/>
            <a:ext cx="333375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DDCA6C7-72BB-40BD-8D3E-EE834B26706F}"/>
              </a:ext>
            </a:extLst>
          </p:cNvPr>
          <p:cNvSpPr>
            <a:spLocks noGrp="1"/>
          </p:cNvSpPr>
          <p:nvPr/>
        </p:nvSpPr>
        <p:spPr>
          <a:xfrm>
            <a:off x="7029450" y="45339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5C4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C451"/>
                </a:solidFill>
                <a:latin typeface="Aptos"/>
                <a:ea typeface="Aptos"/>
                <a:cs typeface="Aptos"/>
              </a:rPr>
              <a:t>systemd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2D7F2CB-FFB8-458E-8DD2-E90D296DC549}"/>
              </a:ext>
            </a:extLst>
          </p:cNvPr>
          <p:cNvSpPr>
            <a:spLocks noGrp="1"/>
          </p:cNvSpPr>
          <p:nvPr/>
        </p:nvSpPr>
        <p:spPr>
          <a:xfrm>
            <a:off x="7029450" y="4905375"/>
            <a:ext cx="2990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backend como servicio persistente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56F2F03-3D72-4365-BAD7-617A1E92EA4B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A9A"/>
                </a:solidFill>
                <a:latin typeface="Aptos"/>
                <a:ea typeface="Aptos"/>
                <a:cs typeface="Aptos"/>
              </a:rPr>
              <a:t>Sistemas Operativos · AWS · React · Node · MariaDB · 08/10</a:t>
            </a:r>
          </a:p>
        </p:txBody>
      </p:sp>
    </p:spTree>
    <p:extLst>
      <p:ext uri="{BB962C8B-B14F-4D97-AF65-F5344CB8AC3E}">
        <p14:creationId xmlns:p14="http://schemas.microsoft.com/office/powerpoint/2010/main" val="210793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2A366C6-7AB9-41CF-9381-50155D2E78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BBCD1D-22D4-4F4E-AC89-FBD11F7CE1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EB8FDEC-5404-499A-A71B-65C3B3CB52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BCBCC99-C656-4661-83CB-B943B97C26D9}"/>
              </a:ext>
            </a:extLst>
          </p:cNvPr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04D5357-0DA0-4E97-A961-BCD7766F601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4FF"/>
                </a:solidFill>
                <a:latin typeface="Aptos"/>
                <a:ea typeface="Aptos"/>
                <a:cs typeface="Aptos"/>
              </a:rPr>
              <a:t>PRUEBAS Y RESULTADOS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03CB52A-C1ED-4DC1-AAA2-ABC62B54241F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Resultado: aplicacion desplegada, consultable y persistente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7E0D0F1-1C55-4E1A-8B3B-664699C51A21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La demo valida frontend, API, BD, seguridad y comportamiento de usuario.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B591EE-3DA2-497B-A1C5-8577C63A0891}"/>
              </a:ext>
            </a:extLst>
          </p:cNvPr>
          <p:cNvSpPr>
            <a:spLocks noGrp="1"/>
          </p:cNvSpPr>
          <p:nvPr/>
        </p:nvSpPr>
        <p:spPr>
          <a:xfrm>
            <a:off x="590550" y="1962150"/>
            <a:ext cx="5695950" cy="3552825"/>
          </a:xfrm>
          <a:prstGeom prst="rect">
            <a:avLst/>
          </a:prstGeom>
          <a:solidFill>
            <a:srgbClr val="05070B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rcRect l="14268" r="14268"/>
          <a:stretch>
            <a:fillRect/>
          </a:stretch>
        </p:blipFill>
        <p:spPr>
          <a:xfrm>
            <a:off x="628650" y="2000250"/>
            <a:ext cx="5619750" cy="347662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D149939B-6F91-48A5-929B-C427B16DB53C}"/>
              </a:ext>
            </a:extLst>
          </p:cNvPr>
          <p:cNvSpPr>
            <a:spLocks noGrp="1"/>
          </p:cNvSpPr>
          <p:nvPr/>
        </p:nvSpPr>
        <p:spPr>
          <a:xfrm>
            <a:off x="6858000" y="2000250"/>
            <a:ext cx="342900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0D9A9DA-C85C-48F8-AAA1-592D098316DF}"/>
              </a:ext>
            </a:extLst>
          </p:cNvPr>
          <p:cNvSpPr>
            <a:spLocks noGrp="1"/>
          </p:cNvSpPr>
          <p:nvPr/>
        </p:nvSpPr>
        <p:spPr>
          <a:xfrm>
            <a:off x="7029450" y="215265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3B507B1-3E01-44D2-9DF9-732F091C14F2}"/>
              </a:ext>
            </a:extLst>
          </p:cNvPr>
          <p:cNvSpPr>
            <a:spLocks noGrp="1"/>
          </p:cNvSpPr>
          <p:nvPr/>
        </p:nvSpPr>
        <p:spPr>
          <a:xfrm>
            <a:off x="7029450" y="2524125"/>
            <a:ext cx="3086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/api/health: database online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AFAD53B-B285-488A-9CB2-FAAD4FE644AD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342900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8473E91-8E02-45E8-8D91-35424DBE5531}"/>
              </a:ext>
            </a:extLst>
          </p:cNvPr>
          <p:cNvSpPr>
            <a:spLocks noGrp="1"/>
          </p:cNvSpPr>
          <p:nvPr/>
        </p:nvSpPr>
        <p:spPr>
          <a:xfrm>
            <a:off x="7029450" y="329565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5DE7F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DE7F3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B81AFA9-47D0-4BFB-A6FD-56DAC960A97D}"/>
              </a:ext>
            </a:extLst>
          </p:cNvPr>
          <p:cNvSpPr>
            <a:spLocks noGrp="1"/>
          </p:cNvSpPr>
          <p:nvPr/>
        </p:nvSpPr>
        <p:spPr>
          <a:xfrm>
            <a:off x="7029450" y="3667125"/>
            <a:ext cx="3086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comentarios guardados en buyer_messages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17B49CC-8292-4BE6-AC26-B2EB3E3D8311}"/>
              </a:ext>
            </a:extLst>
          </p:cNvPr>
          <p:cNvSpPr>
            <a:spLocks noGrp="1"/>
          </p:cNvSpPr>
          <p:nvPr/>
        </p:nvSpPr>
        <p:spPr>
          <a:xfrm>
            <a:off x="6858000" y="4286250"/>
            <a:ext cx="3429000" cy="914400"/>
          </a:xfrm>
          <a:prstGeom prst="rect">
            <a:avLst/>
          </a:prstGeom>
          <a:solidFill>
            <a:srgbClr val="0E1420"/>
          </a:solidFill>
          <a:ln w="9525">
            <a:solidFill>
              <a:srgbClr val="25314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A1A460A-46FE-4ABD-AB2C-533955A8BB09}"/>
              </a:ext>
            </a:extLst>
          </p:cNvPr>
          <p:cNvSpPr>
            <a:spLocks noGrp="1"/>
          </p:cNvSpPr>
          <p:nvPr/>
        </p:nvSpPr>
        <p:spPr>
          <a:xfrm>
            <a:off x="7029450" y="4438650"/>
            <a:ext cx="3086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5C4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C451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2A5E580-28AD-4736-85AA-8C5D2A9A9B6F}"/>
              </a:ext>
            </a:extLst>
          </p:cNvPr>
          <p:cNvSpPr>
            <a:spLocks noGrp="1"/>
          </p:cNvSpPr>
          <p:nvPr/>
        </p:nvSpPr>
        <p:spPr>
          <a:xfrm>
            <a:off x="7029450" y="4810125"/>
            <a:ext cx="3086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catalogo con productos reales e imagenes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A71F4AB-49A8-4C93-92EE-E5D42D9270E0}"/>
              </a:ext>
            </a:extLst>
          </p:cNvPr>
          <p:cNvSpPr>
            <a:spLocks noGrp="1"/>
          </p:cNvSpPr>
          <p:nvPr/>
        </p:nvSpPr>
        <p:spPr>
          <a:xfrm>
            <a:off x="6858000" y="5476875"/>
            <a:ext cx="4000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La seccion Comunidad permite que el profesor escriba un mensaje y luego recargue: el dato permanece porque vive en MariaDB.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BD77D39-C7DD-4A6F-B56C-B5514AF19D52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A9A"/>
                </a:solidFill>
                <a:latin typeface="Aptos"/>
                <a:ea typeface="Aptos"/>
                <a:cs typeface="Aptos"/>
              </a:rPr>
              <a:t>Sistemas Operativos · AWS · React · Node · MariaDB · 09/10</a:t>
            </a:r>
          </a:p>
        </p:txBody>
      </p:sp>
    </p:spTree>
    <p:extLst>
      <p:ext uri="{BB962C8B-B14F-4D97-AF65-F5344CB8AC3E}">
        <p14:creationId xmlns:p14="http://schemas.microsoft.com/office/powerpoint/2010/main" val="2107913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32002C0B-B449-42AE-B7F8-8B75486244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98FEC9-6428-45D7-9A6D-F1EBAC0C94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29D3DE-2F6D-409A-8368-A5C9C4B7DD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507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8A55436-C5E1-48DB-B37A-C795E80EEECD}"/>
              </a:ext>
            </a:extLst>
          </p:cNvPr>
          <p:cNvSpPr>
            <a:spLocks noGrp="1"/>
          </p:cNvSpPr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5D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8B8929-A5F0-44E3-8404-B91841A066CB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4FF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6D903DD-A134-4499-91B1-76A947685179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FORGE CORE demuestra una tienda cloud de extremo a extremo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48C637A-0535-4B12-9A6B-9B04DF3EC5FE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4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4C1"/>
                </a:solidFill>
                <a:latin typeface="Aptos"/>
                <a:ea typeface="Aptos"/>
                <a:cs typeface="Aptos"/>
              </a:rPr>
              <a:t>La entrega conecta experiencia visual, backend, base de datos e infraestructura Linux.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4CED65A-938B-487E-8296-54AE76B195CA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3143250" cy="2714625"/>
          </a:xfrm>
          <a:prstGeom prst="rect">
            <a:avLst/>
          </a:prstGeom>
          <a:solidFill>
            <a:srgbClr val="0E1420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28879D9-3DA3-4DF1-B3D6-85DE60A0EDEE}"/>
              </a:ext>
            </a:extLst>
          </p:cNvPr>
          <p:cNvSpPr>
            <a:spLocks noGrp="1"/>
          </p:cNvSpPr>
          <p:nvPr/>
        </p:nvSpPr>
        <p:spPr>
          <a:xfrm>
            <a:off x="1028700" y="261937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DE7F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DE7F3"/>
                </a:solidFill>
                <a:latin typeface="Aptos"/>
                <a:ea typeface="Aptos"/>
                <a:cs typeface="Aptos"/>
              </a:rPr>
              <a:t>Lo implementado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FA228A-A5AF-420A-96CC-464C31E97A4E}"/>
              </a:ext>
            </a:extLst>
          </p:cNvPr>
          <p:cNvSpPr>
            <a:spLocks noGrp="1"/>
          </p:cNvSpPr>
          <p:nvPr/>
        </p:nvSpPr>
        <p:spPr>
          <a:xfrm>
            <a:off x="1047750" y="3143250"/>
            <a:ext cx="2571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SPA profesional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API REST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MariaDB separada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Checkout transaccional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Comunidad persistente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49EC288-A589-4865-9DB1-BCB7B32B75DB}"/>
              </a:ext>
            </a:extLst>
          </p:cNvPr>
          <p:cNvSpPr>
            <a:spLocks noGrp="1"/>
          </p:cNvSpPr>
          <p:nvPr/>
        </p:nvSpPr>
        <p:spPr>
          <a:xfrm>
            <a:off x="4495800" y="2333625"/>
            <a:ext cx="3143250" cy="2714625"/>
          </a:xfrm>
          <a:prstGeom prst="rect">
            <a:avLst/>
          </a:prstGeom>
          <a:solidFill>
            <a:srgbClr val="0E1420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EE5DF61-8316-4CF7-928F-FFB2ECD9BC10}"/>
              </a:ext>
            </a:extLst>
          </p:cNvPr>
          <p:cNvSpPr>
            <a:spLocks noGrp="1"/>
          </p:cNvSpPr>
          <p:nvPr/>
        </p:nvSpPr>
        <p:spPr>
          <a:xfrm>
            <a:off x="4743450" y="261937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Lo aprendido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2C61ADC-FE4A-4587-ABE0-15A8808AEC7F}"/>
              </a:ext>
            </a:extLst>
          </p:cNvPr>
          <p:cNvSpPr>
            <a:spLocks noGrp="1"/>
          </p:cNvSpPr>
          <p:nvPr/>
        </p:nvSpPr>
        <p:spPr>
          <a:xfrm>
            <a:off x="4762500" y="3143250"/>
            <a:ext cx="2571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Procesos y systemd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Concurrencia con worker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Lectura de recursos Linux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Seguridad de puertos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Transacciones SQL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D4C9369-DF37-4754-887A-B883A724C1B6}"/>
              </a:ext>
            </a:extLst>
          </p:cNvPr>
          <p:cNvSpPr>
            <a:spLocks noGrp="1"/>
          </p:cNvSpPr>
          <p:nvPr/>
        </p:nvSpPr>
        <p:spPr>
          <a:xfrm>
            <a:off x="8210550" y="2333625"/>
            <a:ext cx="3143250" cy="2714625"/>
          </a:xfrm>
          <a:prstGeom prst="rect">
            <a:avLst/>
          </a:prstGeom>
          <a:solidFill>
            <a:srgbClr val="0E1420"/>
          </a:solidFill>
          <a:ln w="9525">
            <a:solidFill>
              <a:srgbClr val="2636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3D84A95-87D1-4EF4-BDB9-A76ABC337EDF}"/>
              </a:ext>
            </a:extLst>
          </p:cNvPr>
          <p:cNvSpPr>
            <a:spLocks noGrp="1"/>
          </p:cNvSpPr>
          <p:nvPr/>
        </p:nvSpPr>
        <p:spPr>
          <a:xfrm>
            <a:off x="8458200" y="2619375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C45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C451"/>
                </a:solidFill>
                <a:latin typeface="Aptos"/>
                <a:ea typeface="Aptos"/>
                <a:cs typeface="Aptos"/>
              </a:rPr>
              <a:t>Siguiente mejora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112968E-D201-4EA4-900B-836CCD8896A9}"/>
              </a:ext>
            </a:extLst>
          </p:cNvPr>
          <p:cNvSpPr>
            <a:spLocks noGrp="1"/>
          </p:cNvSpPr>
          <p:nvPr/>
        </p:nvSpPr>
        <p:spPr>
          <a:xfrm>
            <a:off x="8477250" y="3143250"/>
            <a:ext cx="2571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Autenticacion admin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Dominio + HTTPS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Backups MariaDB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CI/CD</a:t>
            </a:r>
          </a:p>
          <a:p>
            <a:pPr algn="l">
              <a:defRPr sz="13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Pruebas de concurrencia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E561E6E-548C-4F9E-89B9-82B234FB70DE}"/>
              </a:ext>
            </a:extLst>
          </p:cNvPr>
          <p:cNvSpPr>
            <a:spLocks noGrp="1"/>
          </p:cNvSpPr>
          <p:nvPr/>
        </p:nvSpPr>
        <p:spPr>
          <a:xfrm>
            <a:off x="2381250" y="5619750"/>
            <a:ext cx="742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91F4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1F4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 dirty="0" err="1">
                <a:solidFill>
                  <a:srgbClr val="91F4FF"/>
                </a:solidFill>
                <a:latin typeface="Aptos"/>
                <a:ea typeface="Aptos"/>
                <a:cs typeface="Aptos"/>
              </a:rPr>
              <a:t>Usuario</a:t>
            </a:r>
            <a:r>
              <a:rPr sz="1500" b="1" dirty="0">
                <a:solidFill>
                  <a:srgbClr val="91F4FF"/>
                </a:solidFill>
                <a:latin typeface="Aptos"/>
                <a:ea typeface="Aptos"/>
                <a:cs typeface="Aptos"/>
              </a:rPr>
              <a:t> -&gt; EC2 App Server -&gt; EC2 Database Server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3D3D233-1F2B-4DA6-A21B-5F109663CDBD}"/>
              </a:ext>
            </a:extLst>
          </p:cNvPr>
          <p:cNvSpPr>
            <a:spLocks noGrp="1"/>
          </p:cNvSpPr>
          <p:nvPr/>
        </p:nvSpPr>
        <p:spPr>
          <a:xfrm>
            <a:off x="514350" y="6477000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7E8A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8A9A"/>
                </a:solidFill>
                <a:latin typeface="Aptos"/>
                <a:ea typeface="Aptos"/>
                <a:cs typeface="Aptos"/>
              </a:rPr>
              <a:t>Sistemas Operativos · AWS · React · Node · MariaDB · 10/10</a:t>
            </a:r>
          </a:p>
        </p:txBody>
      </p:sp>
    </p:spTree>
    <p:extLst>
      <p:ext uri="{BB962C8B-B14F-4D97-AF65-F5344CB8AC3E}">
        <p14:creationId xmlns:p14="http://schemas.microsoft.com/office/powerpoint/2010/main" val="19453224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Microsoft Office PowerPoint</Application>
  <DocSecurity>0</DocSecurity>
  <PresentationFormat>Panorámica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Piero Carrillo Malla</cp:lastModifiedBy>
  <cp:revision>1</cp:revision>
  <dcterms:created xsi:type="dcterms:W3CDTF">2026-05-23T07:49:00Z</dcterms:created>
  <dcterms:modified xsi:type="dcterms:W3CDTF">2026-05-23T07:53:25Z</dcterms:modified>
</cp:coreProperties>
</file>